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Urbanist SemiBold"/>
      <p:regular r:id="rId28"/>
      <p:bold r:id="rId29"/>
      <p:italic r:id="rId30"/>
      <p:boldItalic r:id="rId31"/>
    </p:embeddedFont>
    <p:embeddedFont>
      <p:font typeface="Urbanist Medium"/>
      <p:regular r:id="rId32"/>
      <p:bold r:id="rId33"/>
      <p:italic r:id="rId34"/>
      <p:boldItalic r:id="rId35"/>
    </p:embeddedFont>
    <p:embeddedFont>
      <p:font typeface="Urbanist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CACC7C-1A80-43D6-AF20-0079700BE6DF}">
  <a:tblStyle styleId="{8DCACC7C-1A80-43D6-AF20-0079700BE6D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UrbanistSemiBold-regular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SemiBold-boldItalic.fntdata"/><Relationship Id="rId30" Type="http://schemas.openxmlformats.org/officeDocument/2006/relationships/font" Target="fonts/UrbanistSemiBold-italic.fntdata"/><Relationship Id="rId11" Type="http://schemas.openxmlformats.org/officeDocument/2006/relationships/slide" Target="slides/slide5.xml"/><Relationship Id="rId33" Type="http://schemas.openxmlformats.org/officeDocument/2006/relationships/font" Target="fonts/UrbanistMedium-bold.fntdata"/><Relationship Id="rId10" Type="http://schemas.openxmlformats.org/officeDocument/2006/relationships/slide" Target="slides/slide4.xml"/><Relationship Id="rId32" Type="http://schemas.openxmlformats.org/officeDocument/2006/relationships/font" Target="fonts/UrbanistMedium-regular.fntdata"/><Relationship Id="rId13" Type="http://schemas.openxmlformats.org/officeDocument/2006/relationships/slide" Target="slides/slide7.xml"/><Relationship Id="rId35" Type="http://schemas.openxmlformats.org/officeDocument/2006/relationships/font" Target="fonts/UrbanistMedium-boldItalic.fntdata"/><Relationship Id="rId12" Type="http://schemas.openxmlformats.org/officeDocument/2006/relationships/slide" Target="slides/slide6.xml"/><Relationship Id="rId34" Type="http://schemas.openxmlformats.org/officeDocument/2006/relationships/font" Target="fonts/UrbanistMedium-italic.fntdata"/><Relationship Id="rId15" Type="http://schemas.openxmlformats.org/officeDocument/2006/relationships/slide" Target="slides/slide9.xml"/><Relationship Id="rId37" Type="http://schemas.openxmlformats.org/officeDocument/2006/relationships/font" Target="fonts/Urbanist-bold.fntdata"/><Relationship Id="rId14" Type="http://schemas.openxmlformats.org/officeDocument/2006/relationships/slide" Target="slides/slide8.xml"/><Relationship Id="rId36" Type="http://schemas.openxmlformats.org/officeDocument/2006/relationships/font" Target="fonts/Urbanist-regular.fntdata"/><Relationship Id="rId17" Type="http://schemas.openxmlformats.org/officeDocument/2006/relationships/slide" Target="slides/slide11.xml"/><Relationship Id="rId39" Type="http://schemas.openxmlformats.org/officeDocument/2006/relationships/font" Target="fonts/Urbanist-boldItalic.fntdata"/><Relationship Id="rId16" Type="http://schemas.openxmlformats.org/officeDocument/2006/relationships/slide" Target="slides/slide10.xml"/><Relationship Id="rId38" Type="http://schemas.openxmlformats.org/officeDocument/2006/relationships/font" Target="fonts/Urbanist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24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26.png"/><Relationship Id="rId5" Type="http://schemas.openxmlformats.org/officeDocument/2006/relationships/image" Target="../media/image18.png"/><Relationship Id="rId6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705100" y="3424237"/>
            <a:ext cx="67818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AI-Powered Quiz Generation using Classical Machine Learning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Semester Project · AL2002 Artificial Intelligence · May 2026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729037" y="4860428"/>
            <a:ext cx="47339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Muhammad Ahsan (23I-0553) | Ali Ahmad Riaz (23I-2528)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700575" y="1797546"/>
            <a:ext cx="6790848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Intelligent Reading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Comprehension System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43075"/>
            <a:ext cx="5238750" cy="42576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2574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Simulating deep reading comprehension and semantic question generation strictly using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Classical ML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(No Transformers or LLMs).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724650" y="3257550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 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Fact-based Question Extraction &amp; Ensemble Verification.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724650" y="4057650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 B: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Semantic Distractor Ranker &amp; Graduated Hints.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24650" y="4857750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UX: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Advanced "Fact Verification" UI to camouflage ML rigidity.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47725" y="33623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336232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Bypassing generative grammar limitations.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47725" y="36671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366712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Managing contextual abstraction through vectors.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47725" y="39719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52500" y="397192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Feature-engineered answer verification.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4650" y="21240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Core Objectives &amp; Problem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174307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Challenge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724650" y="2743200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Project Goals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33562"/>
            <a:ext cx="5238750" cy="40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202406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Utilized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ReAding Comprehension dataset from Examinations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(RACE), sourced from middle and high school Chinese English exams.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843087"/>
            <a:ext cx="1828800" cy="190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6" name="Google Shape;116;p15"/>
          <p:cNvGraphicFramePr/>
          <p:nvPr/>
        </p:nvGraphicFramePr>
        <p:xfrm>
          <a:off x="571500" y="3128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{8DCACC7C-1A80-43D6-AF20-0079700BE6DF}</a:tableStyleId>
              </a:tblPr>
              <a:tblGrid>
                <a:gridCol w="1562100"/>
                <a:gridCol w="1233200"/>
                <a:gridCol w="2443450"/>
              </a:tblGrid>
              <a:tr h="69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Partition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Usage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Training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70,292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 Weights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Validation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8,787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Hyperparameters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Testing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8,787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Final Evaluation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" name="Google Shape;117;p15"/>
          <p:cNvSpPr/>
          <p:nvPr/>
        </p:nvSpPr>
        <p:spPr>
          <a:xfrm>
            <a:off x="571500" y="3810000"/>
            <a:ext cx="15621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2133600" y="3810000"/>
            <a:ext cx="123318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3366789" y="3810000"/>
            <a:ext cx="244346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571500" y="4505325"/>
            <a:ext cx="15621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2133600" y="4505325"/>
            <a:ext cx="123318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3366789" y="4505325"/>
            <a:ext cx="244346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571500" y="5200650"/>
            <a:ext cx="15621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2133600" y="5200650"/>
            <a:ext cx="123318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3366789" y="5200650"/>
            <a:ext cx="244346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571500" y="5895975"/>
            <a:ext cx="15621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2133600" y="5895975"/>
            <a:ext cx="123318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3366789" y="5895975"/>
            <a:ext cx="244346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RACE Dataset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571500" y="21145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RACE naturally features 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3:1 class imbalance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(3 Incorrect vs 1 Correct option per question).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310515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Word Count Distribution: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Most articles fall between 250-400 words, requiring efficient TF-IDF feature selection to avoid sparse matrix blowup.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571500" y="571500"/>
            <a:ext cx="52006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Exploratory Data Analysis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71500" y="1457325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Class Imbalance Statistics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33575"/>
            <a:ext cx="3492549" cy="387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33575"/>
            <a:ext cx="3492549" cy="387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33575"/>
            <a:ext cx="3492549" cy="387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914400" y="3448050"/>
            <a:ext cx="280674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Statistical matching of answer vectors to article sentences confirmed that most answers are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extractive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but often paraphrased, necessitating high-ngram TF-IDF.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4692699" y="3448050"/>
            <a:ext cx="280674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F1-Score prioritized over raw Accuracy due to the 75% negative class majority; preventing "lazy" classifiers that predict all options as Incorrect.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470999" y="3448050"/>
            <a:ext cx="28067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Applied logarithmic scaling to dampen word frequency dominance, allowing unique scientific terms to carry more weight in the vector space.</a:t>
            </a:r>
            <a:endParaRPr/>
          </a:p>
        </p:txBody>
      </p:sp>
      <p:pic>
        <p:nvPicPr>
          <p:cNvPr descr="image.png" id="151" name="Google Shape;15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27200" y="23145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3145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59987" y="231457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Statistical Analysis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44231" y="2933700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Cosine Similarity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4622530" y="2933700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Balanced Metrics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400830" y="2933700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Sublinear TF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29051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19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Cleaning: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Lowercasing, punctuation removal, and handling of noisy artifacts (e.g., "ocean.The").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34480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Tokenization: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NLTK Punkt for sentence splitting; POS-tagging for 1-word noun chunk isolation.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571500" y="39909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Vectorization: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TF-IDF with 50,000 max features and Bi-gram range (1,2) to capture local context.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71500" y="45339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Filtering: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Blacklist application to remove generic pronouns (e.g., "someone", "it") from being question pivots.</a:t>
            </a:r>
            <a:endParaRPr/>
          </a:p>
        </p:txBody>
      </p:sp>
      <p:pic>
        <p:nvPicPr>
          <p:cNvPr descr="image.png"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5751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004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433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8628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 Preprocessing Pipeline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28837"/>
            <a:ext cx="523875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28837"/>
            <a:ext cx="523875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571500" y="511968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Mini-Batch K-Means (k=10) used for thematic grouping of Q-A pair vectors.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914400" y="2986087"/>
            <a:ext cx="45529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Picks pivot sentences using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TF-IDF Cosine Similarity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 target concepts. Clamps NLTK RegexpParser to strictly 1-word entities for visual symmetry.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753225" y="2986087"/>
            <a:ext cx="4524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 ensemble of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Logistic Regression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(C=0.01) and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SGDClassifier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(log_loss). Uses averaged probabilities to determine answer correctness.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Model A: Extraction &amp; Verification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914400" y="2471737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Question Extraction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753225" y="2471737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Soft-Voting Verifier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19387"/>
            <a:ext cx="5381625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719387"/>
            <a:ext cx="5381625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914400" y="3576637"/>
            <a:ext cx="46958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Generates distractors by scoring passage nouns via passage frequency, character-level match, and semantic similarity.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6581775" y="3576637"/>
            <a:ext cx="46958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General: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Topic context (Cosine Sim).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2.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Specific: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Keyword overlap clues.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3.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Explicit: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evidence sentence itself.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Model B &amp; Hint Logic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797004" y="3062287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Supervised Ranker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464379" y="3062287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3-Tier Hint System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6667500" y="211455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 mask Word2Vec's lowercase outputs, the UI reconstructs full 15-word sentences, matching the capitalization of the correct answer.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943725" y="34099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7048500" y="340995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Temperature Scaling: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Sharpens confidence scores from 25% to 80%+.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943725" y="40195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7048500" y="401955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Latency Tracking: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Real-time inference monitoring.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943725" y="46291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7048500" y="462915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CSV Export: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Analytical session logging.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667500" y="571500"/>
            <a:ext cx="52006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UI/UX Innovation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667500" y="1457325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"Fact Verification" Pivot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571500" y="3138487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0.70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571500" y="4281487"/>
            <a:ext cx="523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Verifier F1-Score</a:t>
            </a:r>
            <a:endParaRPr/>
          </a:p>
        </p:txBody>
      </p:sp>
      <p:graphicFrame>
        <p:nvGraphicFramePr>
          <p:cNvPr id="219" name="Google Shape;219;p22"/>
          <p:cNvGraphicFramePr/>
          <p:nvPr/>
        </p:nvGraphicFramePr>
        <p:xfrm>
          <a:off x="6381750" y="27384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{8DCACC7C-1A80-43D6-AF20-0079700BE6DF}</a:tableStyleId>
              </a:tblPr>
              <a:tblGrid>
                <a:gridCol w="3521875"/>
                <a:gridCol w="1716875"/>
              </a:tblGrid>
              <a:tr h="69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Precision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Recall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Silhouette 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0.14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0" name="Google Shape;220;p22"/>
          <p:cNvSpPr/>
          <p:nvPr/>
        </p:nvSpPr>
        <p:spPr>
          <a:xfrm>
            <a:off x="6381750" y="3419475"/>
            <a:ext cx="352186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9903618" y="3419475"/>
            <a:ext cx="171688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6381750" y="4114800"/>
            <a:ext cx="352186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9903618" y="4114800"/>
            <a:ext cx="171688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6381750" y="4810125"/>
            <a:ext cx="352186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9903618" y="4810125"/>
            <a:ext cx="171688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6381750" y="5505450"/>
            <a:ext cx="352186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9903618" y="5505450"/>
            <a:ext cx="171688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Performance Metrics: Model A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6381750" y="2224087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Classification Results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5550"/>
            <a:ext cx="11049000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495550"/>
            <a:ext cx="5238750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6724650" y="3495675"/>
            <a:ext cx="45529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Standard BLEU was 0.0% due to Word2Vec/RACE mismatch. Implementing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Anchored Evaluation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(reconstructing sentences before scoring) revealed true semantic fluency.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Performance Metrics: Model B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6610826" y="2838450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Anchored Evaluation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/>
          <p:nvPr/>
        </p:nvSpPr>
        <p:spPr>
          <a:xfrm>
            <a:off x="5524500" y="1728787"/>
            <a:ext cx="1143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 txBox="1"/>
          <p:nvPr/>
        </p:nvSpPr>
        <p:spPr>
          <a:xfrm>
            <a:off x="571500" y="3462337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Built a robust, rubric-compliant Reading Comprehension pipeline strictly through Classical ML innovations. Successfully camouflaged rigid ML outputs via intelligent UI formatting and temperature-scaled inference.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5262562" y="4833937"/>
            <a:ext cx="1666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3340655" y="2166937"/>
            <a:ext cx="551068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Project Success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/>
          <p:nvPr/>
        </p:nvSpPr>
        <p:spPr>
          <a:xfrm>
            <a:off x="571500" y="2501354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71500" y="348421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71500" y="34746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71500" y="34746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71500" y="42594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71500" y="42594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0" name="Google Shape;26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49897"/>
            <a:ext cx="20193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1666875" y="2644229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https://media.istockphoto.com/id/1419766496/photo/abstract-concepts-of-cybersecurity-technology-and-digital-data-protection-protect-internet.jpg?s=612x612&amp;w=0&amp;k=20&amp;c=3GM-GKO4wrU1wj03fE21cQXSVhvGBF8AO-9lOLpiaq8=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1666875" y="308803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pic>
        <p:nvPicPr>
          <p:cNvPr descr="image.png" id="263" name="Google Shape;26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33638"/>
            <a:ext cx="18954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1666875" y="362709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https://assets.justinmind.com/wp-content/uploads/2024/06/abstract-data-visualization.png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1666875" y="387280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www.justinmind.com</a:t>
            </a:r>
            <a:endParaRPr/>
          </a:p>
        </p:txBody>
      </p:sp>
      <p:pic>
        <p:nvPicPr>
          <p:cNvPr descr="image.png" id="266" name="Google Shape;26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1752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1666875" y="441186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https://static.vecteezy.com/system/resources/thumbnails/068/637/916/small_2x/hud-frames-futuristic-ui-frame-line-abstract-interface-menu-tech-cyberspace-border-sci-fi-design-element-set-modern-board-dashboard-panel-gui-vector.jpg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1666875" y="485566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